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0c6948e5e16d4f85" Type="http://schemas.openxmlformats.org/officeDocument/2006/relationships/extended-properties" Target="docProps/app.xml"/><Relationship Id="R4b430b562e44430a" Type="http://schemas.openxmlformats.org/officeDocument/2006/relationships/officeDocument" Target="ppt/presentation.xml"/><Relationship Id="R8d65442336f145fd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3762ba857f4640"/>
  </p:sldMasterIdLst>
  <p:notesMasterIdLst>
    <p:notesMasterId xmlns:r="http://schemas.openxmlformats.org/officeDocument/2006/relationships" r:id="Ra585b775e1234fde"/>
  </p:notesMasterIdLst>
  <p:sldIdLst>
    <p:sldId xmlns:r="http://schemas.openxmlformats.org/officeDocument/2006/relationships" id="256" r:id="R411d2741758f45f7"/>
    <p:sldId xmlns:r="http://schemas.openxmlformats.org/officeDocument/2006/relationships" id="257" r:id="R85fd150c8ba34c1a"/>
    <p:sldId xmlns:r="http://schemas.openxmlformats.org/officeDocument/2006/relationships" id="258" r:id="R067fb8927ff44967"/>
    <p:sldId xmlns:r="http://schemas.openxmlformats.org/officeDocument/2006/relationships" id="259" r:id="Rd363c4d42ebc4464"/>
    <p:sldId xmlns:r="http://schemas.openxmlformats.org/officeDocument/2006/relationships" id="260" r:id="R72d20980023a4133"/>
    <p:sldId xmlns:r="http://schemas.openxmlformats.org/officeDocument/2006/relationships" id="261" r:id="Rae630287b6cb438a"/>
    <p:sldId xmlns:r="http://schemas.openxmlformats.org/officeDocument/2006/relationships" id="262" r:id="Rf4c9a7a227e8418d"/>
    <p:sldId xmlns:r="http://schemas.openxmlformats.org/officeDocument/2006/relationships" id="263" r:id="R9c5984aea8284d1d"/>
    <p:sldId xmlns:r="http://schemas.openxmlformats.org/officeDocument/2006/relationships" id="264" r:id="R52c9455d23244cea"/>
    <p:sldId xmlns:r="http://schemas.openxmlformats.org/officeDocument/2006/relationships" id="265" r:id="Rdaa6c1f8b89e4ab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067fb8927ff44967" Type="http://schemas.openxmlformats.org/officeDocument/2006/relationships/slide" Target="slides/slide3.xml"/><Relationship Id="R0fcab045de044708" Type="http://schemas.openxmlformats.org/officeDocument/2006/relationships/tableStyles" Target="tableStyles.xml"/><Relationship Id="R318253e539a8435c" Type="http://schemas.openxmlformats.org/officeDocument/2006/relationships/theme" Target="theme/theme1.xml"/><Relationship Id="R354ed07e6abe4718" Type="http://schemas.openxmlformats.org/officeDocument/2006/relationships/presProps" Target="presProps.xml"/><Relationship Id="R411d2741758f45f7" Type="http://schemas.openxmlformats.org/officeDocument/2006/relationships/slide" Target="slides/slide1.xml"/><Relationship Id="R52c9455d23244cea" Type="http://schemas.openxmlformats.org/officeDocument/2006/relationships/slide" Target="slides/slide9.xml"/><Relationship Id="R703762ba857f4640" Type="http://schemas.openxmlformats.org/officeDocument/2006/relationships/slideMaster" Target="slideMasters/slideMaster1.xml"/><Relationship Id="R72d20980023a4133" Type="http://schemas.openxmlformats.org/officeDocument/2006/relationships/slide" Target="slides/slide5.xml"/><Relationship Id="R85fd150c8ba34c1a" Type="http://schemas.openxmlformats.org/officeDocument/2006/relationships/slide" Target="slides/slide2.xml"/><Relationship Id="R9c5984aea8284d1d" Type="http://schemas.openxmlformats.org/officeDocument/2006/relationships/slide" Target="slides/slide8.xml"/><Relationship Id="Ra585b775e1234fde" Type="http://schemas.openxmlformats.org/officeDocument/2006/relationships/notesMaster" Target="notesMasters/notesMaster1.xml"/><Relationship Id="Rae630287b6cb438a" Type="http://schemas.openxmlformats.org/officeDocument/2006/relationships/slide" Target="slides/slide6.xml"/><Relationship Id="Rc8e672ac78ae49a3" Type="http://schemas.openxmlformats.org/officeDocument/2006/relationships/viewProps" Target="viewProps.xml"/><Relationship Id="Rd363c4d42ebc4464" Type="http://schemas.openxmlformats.org/officeDocument/2006/relationships/slide" Target="slides/slide4.xml"/><Relationship Id="Rdaa6c1f8b89e4ab7" Type="http://schemas.openxmlformats.org/officeDocument/2006/relationships/slide" Target="slides/slide10.xml"/><Relationship Id="Rf4c9a7a227e8418d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0930cd399d9e49d4" Type="http://schemas.openxmlformats.org/officeDocument/2006/relationships/theme" Target="theme/theme2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303d2dee7364cc6" Type="http://schemas.openxmlformats.org/officeDocument/2006/relationships/slide" Target="../slides/slide1.xml"/><Relationship Id="R7596241106a14c77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1d2d8780c15d4015" Type="http://schemas.openxmlformats.org/officeDocument/2006/relationships/notesMaster" Target="../notesMasters/notesMaster1.xml"/><Relationship Id="R917b18e9e0834829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22429bdb01b240ec" Type="http://schemas.openxmlformats.org/officeDocument/2006/relationships/notesMaster" Target="../notesMasters/notesMaster1.xml"/><Relationship Id="Radf419e2d15f49a8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10b617f7e0534534" Type="http://schemas.openxmlformats.org/officeDocument/2006/relationships/notesMaster" Target="../notesMasters/notesMaster1.xml"/><Relationship Id="Rc426b1c188b7456b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66c34fb883d411f" Type="http://schemas.openxmlformats.org/officeDocument/2006/relationships/notesMaster" Target="../notesMasters/notesMaster1.xml"/><Relationship Id="R272f7a30812a4ee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79788aed93e34ce8" Type="http://schemas.openxmlformats.org/officeDocument/2006/relationships/slide" Target="../slides/slide6.xml"/><Relationship Id="Rb9c495587c6442c4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56fdc7931b1f4096" Type="http://schemas.openxmlformats.org/officeDocument/2006/relationships/notesMaster" Target="../notesMasters/notesMaster1.xml"/><Relationship Id="R69a0851afb91424a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3ff7864cc3f54c79" Type="http://schemas.openxmlformats.org/officeDocument/2006/relationships/slide" Target="../slides/slide8.xml"/><Relationship Id="R98609172af574daf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106559ba4a0b46be" Type="http://schemas.openxmlformats.org/officeDocument/2006/relationships/slide" Target="../slides/slide9.xml"/><Relationship Id="R14e1626dada74600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da7a28e905a04845" Type="http://schemas.openxmlformats.org/officeDocument/2006/relationships/notesMaster" Target="../notesMasters/notesMaster1.xml"/><Relationship Id="Re040056e19674ef7" Type="http://schemas.openxmlformats.org/officeDocument/2006/relationships/slide" Target="../slides/slide10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<?xml version='1.0' encoding='UTF-8' standalone='yes'?>
<Relationships xmlns="http://schemas.openxmlformats.org/package/2006/relationships"><Relationship Id="R2eb1010c6d1c4365" Type="http://schemas.openxmlformats.org/officeDocument/2006/relationships/slideMaster" Target="../slideMasters/slideMaster1.xml"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f8921c30dd1b46e4" Type="http://schemas.openxmlformats.org/officeDocument/2006/relationships/theme" Target="../theme/theme1.xml"/><Relationship Id="Rfb4a8991d4fc4e01" Type="http://schemas.openxmlformats.org/officeDocument/2006/relationships/slideLayout" Target="../slideLayouts/slideLayout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b4a8991d4fc4e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0e58d1263340431c" Type="http://schemas.openxmlformats.org/officeDocument/2006/relationships/slideLayout" Target="../slideLayouts/slideLayout2.xml"/><Relationship Id="R91365cc69d3d440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13e408f422c941b2" Type="http://schemas.openxmlformats.org/officeDocument/2006/relationships/notesSlide" Target="../notesSlides/notesSlide2.xml"/><Relationship Id="Rd28f893ea6594ddb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3cc68d1d51164cd1" Type="http://schemas.openxmlformats.org/officeDocument/2006/relationships/notesSlide" Target="../notesSlides/notesSlide3.xml"/><Relationship Id="Rf995287b58d24d73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9c71c0567a6c42eb" Type="http://schemas.openxmlformats.org/officeDocument/2006/relationships/notesSlide" Target="../notesSlides/notesSlide4.xml"/><Relationship Id="Ra810dc17c4aa4a9a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4e0b3dea012244ce" Type="http://schemas.openxmlformats.org/officeDocument/2006/relationships/notesSlide" Target="../notesSlides/notesSlide5.xml"/><Relationship Id="R6724dce0f02c4f53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6d4ec2d3ca70409f" Type="http://schemas.openxmlformats.org/officeDocument/2006/relationships/slideLayout" Target="../slideLayouts/slideLayout2.xml"/><Relationship Id="R82eeda93b0d148f7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4495051af4f742b0" Type="http://schemas.openxmlformats.org/officeDocument/2006/relationships/slideLayout" Target="../slideLayouts/slideLayout2.xml"/><Relationship Id="R778617675747436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c3d94665a47f49bc" Type="http://schemas.openxmlformats.org/officeDocument/2006/relationships/slideLayout" Target="../slideLayouts/slideLayout2.xml"/><Relationship Id="Rf18d8cdde3b54588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30897e72c11e4f97" Type="http://schemas.openxmlformats.org/officeDocument/2006/relationships/image" Target="../media/image.jpeg"/><Relationship Id="R7ee9bb474c384f7b" Type="http://schemas.openxmlformats.org/officeDocument/2006/relationships/slideLayout" Target="../slideLayouts/slideLayout2.xml"/><Relationship Id="Re4b9d630cb774801" Type="http://schemas.openxmlformats.org/officeDocument/2006/relationships/notesSlide" Target="../notesSlides/notesSlide9.xml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abd66361d1d0422d" Type="http://schemas.openxmlformats.org/officeDocument/2006/relationships/slideLayout" Target="../slideLayouts/slideLayout2.xml"/><Relationship Id="Rae8960533bee411e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BADFDC-3472-428C-8751-33E54A17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3AEDC-57EA-4621-A3A5-B11A46BD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MinerU · Sci-Evo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F89D7-1398-4AE8-A72E-71093D7B9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Sci-Evo-LabTrace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5B6583-FC69-4A54-8A30-E61F5B6F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面向 AI4S 科学智能体的科研演化证据数据集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41567-AA3E-49E6-AC6E-C9F63AEC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657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r>
              <a:t>把论文 PDF、MinerU 解析结果和人工证据链整合成可训练、可评测、可追溯的 Sci-Evo gold case。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049AE-EEDB-4ECB-A546-2D144F47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5715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22FC6C-41EF-47FE-AC29-DA856775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676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4EA1A-61F2-4940-A72F-05CB9BA8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02AB43-E6E5-4CD0-ADBD-C9A654F6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Gold case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AADA94-84ED-48F6-93B1-8ABD9296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00500"/>
            <a:ext cx="1676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9839A6-5058-4583-A9B3-B4ABB88C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338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211111-694D-4615-A877-BD1EDB8B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6101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轨迹步骤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E94B0-9B41-4C97-8FC6-EF682E3A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00500"/>
            <a:ext cx="1676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88BD26-2143-4369-A405-55BBE98D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1338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37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84EED-FBA1-4BCA-9F2E-C8BAA4CAF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6101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评测任务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20A22-B46F-4242-866D-13C50ADB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00500"/>
            <a:ext cx="16764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03DE59-AF73-48C7-98A1-D52DC6F3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1338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25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72710A-0E00-4B20-B554-D6FA8D95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10100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OA 候选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A20832-867A-4CB8-8ED9-99B7C064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914400"/>
            <a:ext cx="2857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50519C-1BF1-4828-A9AD-EFADDA461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25730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不是“论文摘要”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65B44F-78A8-43D2-86E4-3EEDC46A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885950"/>
            <a:ext cx="2266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而是把真实科研中的目标设定、计算设计、湿实验、失败修正和最终验证整理成可学习的轨迹。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D18EFA-67BE-478E-9E79-AB56BD7C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5814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核心差异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30E1AA-FD96-4BBB-8DD2-EEEFCA34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810000"/>
            <a:ext cx="2266950" cy="819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论文证据链 + MinerU 块级定位 + 结构化 schema + 自动评测任务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2C0B7F-6061-4810-8814-48E9FF71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Sci-Evo · LabTrace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EF9D9F-C013-4486-B160-64C5DD29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543105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F26996-27BF-4D9E-A0E8-1DC012C1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kicker-场景痛点-marker">
            <a:extLst xmlns:a="http://schemas.openxmlformats.org/drawingml/2006/main">
              <a:ext uri="{FF2B5EF4-FFF2-40B4-BE49-F238E27FC236}">
                <a16:creationId xmlns:a16="http://schemas.microsoft.com/office/drawing/2014/main" id="{D683D2EE-8F1E-4353-9EF6-E7CD1423B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kicker-场景痛点-label">
            <a:extLst xmlns:a="http://schemas.openxmlformats.org/drawingml/2006/main">
              <a:ext uri="{FF2B5EF4-FFF2-40B4-BE49-F238E27FC236}">
                <a16:creationId xmlns:a16="http://schemas.microsoft.com/office/drawing/2014/main" id="{D62C0190-F6FE-4ADC-97D0-D8119E3B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场景痛点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84956-3811-46D2-A129-1D0FDCAFD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85825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76200" bIns="0" anchor="ctr"/>
          <a:lstStyle xmlns:a="http://schemas.openxmlformats.org/drawingml/2006/main"/>
          <a:p xmlns:a="http://schemas.openxmlformats.org/drawingml/2006/main">
            <a:r>
              <a:t>真正稀缺的不是论文数量，而是可复用的科研演化过程。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CE492-C0F5-4E59-B22E-283EA5CE4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Sci-Evo · LabTrace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766CC-8D40-4FFE-8D0E-EE27D01CC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5F7502-CFF9-47F8-A1EC-415766879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38350"/>
            <a:ext cx="2876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B6E050-9DD0-46D5-828A-35AE5D96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288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7C3436-C5C6-4D09-AE4E-CAACC99A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241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静态知识多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99BCE-1AE1-44C5-89A1-3CB67AB5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1350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r>
              <a:t>现有语料大多只保留结论、摘要或问答，缺少真实科研步骤与决策上下文。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42D00-2172-4E14-85CD-BDF99BAB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781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1D95AA-462B-48F5-9047-8B7A811C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38350"/>
            <a:ext cx="2876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707009-55D1-4B46-A07E-BA5A9B4E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2288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CB4684-E90A-461B-A295-798AE93E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241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证据链断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69AAD8-6963-4E08-976D-E564AEBF9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81350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r>
              <a:t>即使能读 PDF，也常停留在段落摘录，难以回溯到页面、图表和具体实验节点。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6CB5E-711F-4AAF-877D-EDE72DD9D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78130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B4FE4B-E000-448D-854D-F8D446389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038350"/>
            <a:ext cx="287655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D41D90-16F1-43FE-A637-BFCAE138A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28850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0F087A-8087-4A56-8616-40C587087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提交成本高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C1A502-F54C-4156-91FD-2425B1E5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181350"/>
            <a:ext cx="2305050" cy="666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r>
              <a:t>数据、报告、评测任务和许可说明分散，评委很难快速确认工程完整度。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4E4F04-A8B4-44FA-94CF-EEC21F41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05350"/>
            <a:ext cx="9906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42A028-0786-4525-A0C2-E27CBDE2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57750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比赛得分点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855561-856C-4883-BE63-A1895636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81550"/>
            <a:ext cx="7620000" cy="533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高保真解析只是底座；更关键的是把科研轨迹、证据链、质量控制和提交包做成闭环。</a:t>
            </a:r>
          </a:p>
        </p:txBody>
      </p:sp>
    </p:spTree>
    <p:extLst>
      <p:ext uri="{BB962C8B-B14F-4D97-AF65-F5344CB8AC3E}">
        <p14:creationId xmlns:p14="http://schemas.microsoft.com/office/powerpoint/2010/main" val="11083486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19EBFC-6E78-4DE9-AE6E-AC4C9108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kicker-系统架构-marker">
            <a:extLst xmlns:a="http://schemas.openxmlformats.org/drawingml/2006/main">
              <a:ext uri="{FF2B5EF4-FFF2-40B4-BE49-F238E27FC236}">
                <a16:creationId xmlns:a16="http://schemas.microsoft.com/office/drawing/2014/main" id="{DE00B68B-265C-4B23-ABB4-658F59AAE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kicker-系统架构-label">
            <a:extLst xmlns:a="http://schemas.openxmlformats.org/drawingml/2006/main">
              <a:ext uri="{FF2B5EF4-FFF2-40B4-BE49-F238E27FC236}">
                <a16:creationId xmlns:a16="http://schemas.microsoft.com/office/drawing/2014/main" id="{E96207C7-F558-4FA0-9A1C-EBD11B7A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系统架构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E2833-154B-41A7-B82A-EA5AC546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09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76200" bIns="0" anchor="ctr"/>
          <a:lstStyle xmlns:a="http://schemas.openxmlformats.org/drawingml/2006/main"/>
          <a:p xmlns:a="http://schemas.openxmlformats.org/drawingml/2006/main">
            <a:r>
              <a:t>先把论文解析成可信证据，再构建科研轨迹数据。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1426C-A129-4AF7-954F-BAF5DD06C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Sci-Evo · LabTrace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9A54B-8A70-4BA0-B8CD-AECBD8EF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5621F-BC50-434B-85D9-8B777EEF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600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C21DDC-02D3-406C-B836-775C7C8A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19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C503AE-8828-4DAD-87AC-D359F0E5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2415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PDF / DOI / 许可信息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E9EE4D-0CCD-44EC-96DC-8987D98F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00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EED5FF-2FC1-4B47-A9C9-027DE5A4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266950"/>
            <a:ext cx="1600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AB7B0-8153-4D44-B78C-95170E365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419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解析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99E7C-5756-417F-8C19-EEF175D63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72415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MinerU / Markdown / layout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ED261A-18A6-404A-AEAB-1DA24AB1C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0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7F385B-F016-4585-8F27-2C031BFD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66950"/>
            <a:ext cx="1600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14B3B-688B-4B07-927B-28374C7A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19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建模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872E06-4436-40C6-8B64-DA0B96B1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72415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case schema / evidence map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6F18B4-E0EA-4855-8B06-A90510A8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0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158BFA-66FA-427F-B89B-249E327E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66950"/>
            <a:ext cx="1600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C2312D-68CF-4ED6-9645-29B54728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419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抽取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C52E5F-C4A9-423E-AB06-D38B8E2E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2415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trajectory / verification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DACA71-9750-4C51-BD9A-C840F52A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003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6954F2-47B6-4042-A127-D48EFE408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66950"/>
            <a:ext cx="16002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8B53C5-2A4C-4643-A39F-7910AEB58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19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交付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353978-D0A1-41AA-BA99-C6161C29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724150"/>
            <a:ext cx="123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JSONL / tasks / reports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F76480-A8AB-45A5-A19B-6CE2DCCC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A7DC3F-79AE-48BD-B4AD-FDF1B83A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362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统一证据链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FB8A83-2731-43FA-A74B-175F5280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r>
              <a:t>每个轨迹步骤保留来源页码、定位文本和 MinerU block 对应关系。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12444C-5606-4937-A3E2-50C8A968A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086C02-7F6B-4D72-A7F3-A20DC9264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624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统一提交闭环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D0413D-0BE8-4EED-BEFD-6088F39F2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86300"/>
            <a:ext cx="447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r>
              <a:t>构建、校验、质量报告、就绪检查和打包脚本共同保证可提交性。</a:t>
            </a:r>
          </a:p>
        </p:txBody>
      </p:sp>
    </p:spTree>
    <p:extLst>
      <p:ext uri="{BB962C8B-B14F-4D97-AF65-F5344CB8AC3E}">
        <p14:creationId xmlns:p14="http://schemas.microsoft.com/office/powerpoint/2010/main" val="1201270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5C3FEF-BAE2-404B-8D92-FAED7A1F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kicker-MinerU 解析-marker">
            <a:extLst xmlns:a="http://schemas.openxmlformats.org/drawingml/2006/main">
              <a:ext uri="{FF2B5EF4-FFF2-40B4-BE49-F238E27FC236}">
                <a16:creationId xmlns:a16="http://schemas.microsoft.com/office/drawing/2014/main" id="{68C71E1D-F8B7-446B-B30C-EF0BAAB8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kicker-MinerU 解析-label">
            <a:extLst xmlns:a="http://schemas.openxmlformats.org/drawingml/2006/main">
              <a:ext uri="{FF2B5EF4-FFF2-40B4-BE49-F238E27FC236}">
                <a16:creationId xmlns:a16="http://schemas.microsoft.com/office/drawing/2014/main" id="{300F6327-78D2-494C-B092-CE3085273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MINERU 解析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717565-9EBD-465F-A813-280A4391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76200" bIns="0" anchor="ctr"/>
          <a:lstStyle xmlns:a="http://schemas.openxmlformats.org/drawingml/2006/main"/>
          <a:p xmlns:a="http://schemas.openxmlformats.org/drawingml/2006/main">
            <a:r>
              <a:t>第一公里有真实落地：本地产物、页级证据和复现实验路径都可检查。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E4EAF-E775-47EE-BB69-115CA8AE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Sci-Evo · LabTrace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E200B-A49A-459C-804A-B9F7A185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6460B-DA9D-483A-8F8E-9E2AE446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4C95EC-FA84-4879-BE86-26B5986D7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7170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B5095-5D67-48BF-8B5B-10B75F0B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本地解析样例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49AE77-2D8F-497B-A5FB-0BF97721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383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865B27-EF8F-4A0F-B8FF-2D9076DBB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7170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E7E98-3B2A-4698-83AE-BD8601D2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479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核心产物类型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5A62EB-1771-48BA-8110-2501F5B74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383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1D836B-EB95-4FF1-8A0A-E8830624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71700"/>
            <a:ext cx="137160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100%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AB49A0-EBB9-456A-82D3-6B6FD477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647950"/>
            <a:ext cx="137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样例可复查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7ABBBD-2DFF-4995-8B2A-9CB8814B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38671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52C41-5FCA-45F0-8D62-BEC013D93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383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本地运行报告已保存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C4009C-2C2F-4536-9044-8B0A9623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146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输入样例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CDB6BA-29FD-4E63-831C-0A03A1FD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146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Sci-Evo-Sample.pdf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BB3659-5BAA-4786-A5C3-98CB158B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146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产物覆盖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241EF7-B77F-4B09-8A33-85BD469F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146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full.md / layout.json / content_list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239BCE-463E-484C-9AA4-AFA513572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147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关键文件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3746C5-2DC8-435A-9760-98003189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markdown / json / model / images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2384D4-ED64-41DB-A814-66B8540E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71475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许可边界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1B9AE6-A086-4FAD-B759-059FAD20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1475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全文级解析产物仅本地保留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96FAEF-EF69-441F-92A9-3F969B93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14800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后续扩展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A7058D-EB23-4BCF-9AFE-AF414CC3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215265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开放论文可继续补齐本地 MinerU 解析结果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0CD646-4C13-4E2B-BCD6-A6147893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r>
              <a:t>使用方式：通过 scripts/mineru_parse.py 调用 MinerU API，本地保留 Markdown、content list、layout、model 与图片；因许可约束，不公开未复核全文级产物。</a:t>
            </a:r>
          </a:p>
        </p:txBody>
      </p:sp>
    </p:spTree>
    <p:extLst>
      <p:ext uri="{BB962C8B-B14F-4D97-AF65-F5344CB8AC3E}">
        <p14:creationId xmlns:p14="http://schemas.microsoft.com/office/powerpoint/2010/main" val="21389370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7C17A1-51A0-4B5C-82A0-B244A1508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kicker-知识矩阵-marker">
            <a:extLst xmlns:a="http://schemas.openxmlformats.org/drawingml/2006/main">
              <a:ext uri="{FF2B5EF4-FFF2-40B4-BE49-F238E27FC236}">
                <a16:creationId xmlns:a16="http://schemas.microsoft.com/office/drawing/2014/main" id="{E46272CD-7567-4C10-A304-AEE718E1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kicker-知识矩阵-label">
            <a:extLst xmlns:a="http://schemas.openxmlformats.org/drawingml/2006/main">
              <a:ext uri="{FF2B5EF4-FFF2-40B4-BE49-F238E27FC236}">
                <a16:creationId xmlns:a16="http://schemas.microsoft.com/office/drawing/2014/main" id="{3674A8C9-E91F-4A74-87CF-3359C47B1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数据总览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9A318-9723-4B3B-8012-34417665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95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76200" bIns="0" anchor="ctr"/>
          <a:lstStyle xmlns:a="http://schemas.openxmlformats.org/drawingml/2006/main"/>
          <a:p xmlns:a="http://schemas.openxmlformats.org/drawingml/2006/main">
            <a:r>
              <a:t>每条 case 同时呈现领域、轨迹重心、许可状态和关键证据。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7282B-8F91-4772-BF36-DFAD6C04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Sci-Evo · LabTrace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CD6199-18F3-41A6-B704-691D87875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AC1334-01F5-40FF-B25F-F626A936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BAB1E7-13D2-4912-95F1-5872FA46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样本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EBFA6-71D2-4D34-8C5D-E68F5A2D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85950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6236FD-85CC-4E32-895C-7FC17AFE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62150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领域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6374C-C1D0-4846-83C0-7EE8E596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859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7A771E-55AC-4FCB-98CC-F9E7C7C0C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9621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轨迹重心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5F75BA-84E4-49CA-9B4E-FCCB20A9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885950"/>
            <a:ext cx="133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0E2CC-AEC8-4322-BD2B-4D46EBE4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62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许可状态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3DC73A-2C67-4D3B-B850-A9EABE88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400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D3A6FA-FE1E-4A16-95AE-694BF4D6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621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关键证据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915FC-15D0-4E13-B62C-782986AD2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050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F3ABAA-21AE-40CB-A504-7D7D7A6D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de_novo_luciferase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01C141-9D3B-472A-97EC-C7B926FB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05050"/>
            <a:ext cx="104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578C8F-8EF4-4143-AEB4-15EF6829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812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生物发光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BA09A1-CA9B-43A8-BED9-50AA0CD8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050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315DB1-F167-4450-B39A-DC6D892AD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3812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从头设计 + 筛选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BA6F5-8F2E-4E90-BC80-AE5D1175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05050"/>
            <a:ext cx="133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A209B3-E151-4467-AC7B-CEB693B4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3812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赛事样例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B875BC-2DB9-4250-A0B9-816676D39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0505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C27EBC-FC2C-47E5-AA44-A1154451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812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目标、突变、细胞验证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9A4165-6109-44DF-B271-9AEAC1F2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37D784-0478-4607-8C43-C0663DD8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ml_enzyme_opt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BEA057-72F7-466A-8D6B-2BE39C1A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90850"/>
            <a:ext cx="104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30AFB39-D46A-4055-A3D3-23082745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0670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酶工程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BE8F51-9949-4D61-9359-964A59F2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9908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A32787-91D7-4C6F-BE45-F6407B8F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670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ML 设计 + 活性优化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8D6A4D-5CEA-45C3-AA2C-92AC7F1E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90850"/>
            <a:ext cx="133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3AA70C-4CE2-4F9D-ABA8-5B8E1A7A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670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CC-BY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51D680-C7D2-4ECA-BA84-5D4AA2AB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9085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FB8855-E309-4ABE-A6E9-849BF34F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0670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模型输入、实验结果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DE1F974-9530-4245-8E29-E5DABD57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663CA7-F831-41AE-87AB-0E43A48F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biocatalysis_case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7DE8034-3E56-4548-B25B-39985256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76650"/>
            <a:ext cx="104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8D799E-9C5F-4B87-B903-8A12CC3B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7528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生物催化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320E37F-BB8C-414C-8ED8-6D83D0A0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6766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6BC5DF-BA29-4927-9CF6-9C319F6B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7528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定向进化 + 验证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ADBA30-3FCC-4F27-9835-B75C844D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76650"/>
            <a:ext cx="133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FDFCADE-BC04-4AF7-9383-1E131B68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7528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CC-BY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A44FBF-2FEB-404D-9093-F452ADD9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7665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4ABAB8-C96B-4670-AA5A-ED7D612E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轮次指标、终点结论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EE0B81-E655-4D08-B7F4-94AA9580E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624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4439BA-F11A-4CE1-BA29-F2BE7BF4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200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openalex_queue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1C0CF27-3C4B-4D76-9D12-FB48DF0A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362450"/>
            <a:ext cx="1047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B6FB26-1BDD-4080-BABD-3C4869D9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4386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候选扩展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82BB857-BD60-4249-9C17-1E205D12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3624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7E447C-3F8E-4EFF-AAED-A1F381A8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4386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许可筛选 + 后续解析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30ECD0-FE5F-4CA3-ADD4-D277A24C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62450"/>
            <a:ext cx="133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81F9CAF-A8D5-443B-9141-E21313F6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43865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14 可处理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8FF2299-69EC-40DD-BB69-11A1C019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62450"/>
            <a:ext cx="4000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5A10E8B-2930-48E7-985E-CB599DB3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386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DOI、OA 链接、许可状态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E4EAC6-70C2-4777-9264-81AA8292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10540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这张表让评委可以在一页内看清当前数据覆盖、来源合规性和后续扩展空间。</a:t>
            </a:r>
          </a:p>
        </p:txBody>
      </p:sp>
    </p:spTree>
    <p:extLst>
      <p:ext uri="{BB962C8B-B14F-4D97-AF65-F5344CB8AC3E}">
        <p14:creationId xmlns:p14="http://schemas.microsoft.com/office/powerpoint/2010/main" val="4458317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DA6AB35-14E4-4059-9B83-2507E398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kicker-个性化规划-marker">
            <a:extLst xmlns:a="http://schemas.openxmlformats.org/drawingml/2006/main">
              <a:ext uri="{FF2B5EF4-FFF2-40B4-BE49-F238E27FC236}">
                <a16:creationId xmlns:a16="http://schemas.microsoft.com/office/drawing/2014/main" id="{A285FE22-E0A6-41C8-9C51-5E29158E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kicker-个性化规划-label">
            <a:extLst xmlns:a="http://schemas.openxmlformats.org/drawingml/2006/main">
              <a:ext uri="{FF2B5EF4-FFF2-40B4-BE49-F238E27FC236}">
                <a16:creationId xmlns:a16="http://schemas.microsoft.com/office/drawing/2014/main" id="{80121F58-AEE6-4801-ACE6-058D0DDE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标注策略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5AC958-D65E-4032-B76F-EFE96BB1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76200" bIns="0" anchor="ctr"/>
          <a:lstStyle xmlns:a="http://schemas.openxmlformats.org/drawingml/2006/main"/>
          <a:p xmlns:a="http://schemas.openxmlformats.org/drawingml/2006/main">
            <a:r>
              <a:t>目标定义不只写摘要，而是决定轨迹边界、验证标准和评测方式。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7E1DE-4678-4447-9C7D-2F8A7AD8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Sci-Evo · LabTrace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E4D39-02A3-4D53-9A75-F20C728C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8F4D1-8CDD-43FD-A14C-0599841C5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857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9287C-E604-4425-B342-C2A85376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case 画像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DE5BD-89FA-480F-ADF8-134266E9F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0101F-27A7-4DF4-8B01-3A7B1104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432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r>
              <a:t>从论文中抽取可量化科研目标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75FD4-A5C7-4784-B6AA-653EEC047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4805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难点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72A03E-2507-4C9B-A9F9-1025FB037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40995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r>
              <a:t>计算设计、湿实验和失败修正需串联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4CDB5B-B191-4F33-BCB0-D4CFFDAD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7239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边界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F853BA-92EF-4862-806F-D6CED783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76700"/>
            <a:ext cx="14859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r>
              <a:t>只保留有证据和许可状态的步骤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463BD8-8772-45E3-A592-C277506C1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E6DDD3-6BC5-4B9A-94FC-57F90807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962150"/>
            <a:ext cx="56007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3EC94F-777A-436F-96B0-398F3059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24100"/>
            <a:ext cx="2095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351C7-2208-4C1C-AA6A-72E638FA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479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进入结构化标注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82F8FC-C6AD-46F2-A61C-19050FD5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051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initial_request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430504-5310-454F-959F-87FCA9FF6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051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目标、约束、量化指标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0ECDAC-024E-4726-B367-DB5F5306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04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agent_trajectory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5D5CDD-E9B9-47B3-8DB7-DA3AAC2A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004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action / tool / parameter / observation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F1CCC6-A2D9-4A13-A3FE-86E73D24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957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success_verification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302580-84FD-4F33-BE06-D79966C1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95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最终验证方法与指标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8453C9-7342-4F7D-90FD-38602894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quality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E83DB7-EEC2-4F30-9993-B3349839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910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gold 等级、证据覆盖、许可复核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7B0F41-3D03-4166-A3C5-749DBC32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292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同一篇论文的切分方式会直接影响样本质量；我们的原则是先定边界，再抽步骤，再做证据绑定。</a:t>
            </a:r>
          </a:p>
        </p:txBody>
      </p:sp>
    </p:spTree>
    <p:extLst>
      <p:ext uri="{BB962C8B-B14F-4D97-AF65-F5344CB8AC3E}">
        <p14:creationId xmlns:p14="http://schemas.microsoft.com/office/powerpoint/2010/main" val="18412254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70537C-D3EB-4EA3-BEF0-7AFAB429F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kicker-资源交付-marker">
            <a:extLst xmlns:a="http://schemas.openxmlformats.org/drawingml/2006/main">
              <a:ext uri="{FF2B5EF4-FFF2-40B4-BE49-F238E27FC236}">
                <a16:creationId xmlns:a16="http://schemas.microsoft.com/office/drawing/2014/main" id="{5B11B88D-CAC1-4B8E-8900-4A25284B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kicker-资源交付-label">
            <a:extLst xmlns:a="http://schemas.openxmlformats.org/drawingml/2006/main">
              <a:ext uri="{FF2B5EF4-FFF2-40B4-BE49-F238E27FC236}">
                <a16:creationId xmlns:a16="http://schemas.microsoft.com/office/drawing/2014/main" id="{CF929027-B7BE-4C09-8C74-ACFBA8CB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提交交付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99C98-CD27-4060-B202-31E56906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76200" bIns="0" anchor="ctr"/>
          <a:lstStyle xmlns:a="http://schemas.openxmlformats.org/drawingml/2006/main"/>
          <a:p xmlns:a="http://schemas.openxmlformats.org/drawingml/2006/main">
            <a:r>
              <a:t>一次打包交出数据、报告、脚本和审查说明，而不是零散文件。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3863E-1DB5-402B-BBE8-2599C7B8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Sci-Evo · LabTrace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2FC012-54FC-49CF-B449-E6690D41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3CAD0-4A12-47FF-BCC2-FA2ED648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90750"/>
            <a:ext cx="2895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7FB63A-6EBB-4D5E-881D-91BB51F3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384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submission_pack/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30346F-D649-4469-AA2D-C3B339EFC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146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记录数据、文档、报告与交付清单路径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C4A9C8-017E-4265-A2E3-2DA1E1CF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71650"/>
            <a:ext cx="2514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6B205-17B8-443D-BEF2-E2B3B994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9431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69D263-3D81-449B-85F5-8728C038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860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scievo_gold.jsonl / scievo_eval_tasks.jsonl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6CF34B-7C1D-463D-8709-50BB06A38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514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D03796-C333-42B0-A4D3-E22A4800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1338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文档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348D19-7A8A-4D3D-A733-CF48298ED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767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README.md / TECHNICAL_REPORT.md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FD0E04-4F71-46B3-9A82-8087CF2D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771650"/>
            <a:ext cx="2514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05E7F7-5C81-414D-9200-A9CE04F4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431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校验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8DA818-0BFE-4C8D-9186-5750B7EE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8600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validate_dataset.py / check_submission_readiness.py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B7A203-CCB1-4FE2-8978-F2E468C1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62400"/>
            <a:ext cx="25146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C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BA7B61-9646-4AC5-B930-7D15AE4B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338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报告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2F03D-803D-4265-A6D8-3D45B3BC1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76750"/>
            <a:ext cx="2000250" cy="70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QUALITY_REPORT.md / MINERU_RUN_REPORT.md / SUBMISSION_READINESS.md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49E64D-5977-4437-A154-C84F18490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7650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823A22-F7BD-4B97-89C4-42FCA47B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76500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1747D0-F93E-4293-AC9E-153EBBC0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7650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FDE4E5-A840-46DA-862C-53A0A526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DDC6CA-FA53-4531-8583-5B7046DDD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629150"/>
            <a:ext cx="1066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6067CD-C52E-43C6-BBEA-7662BD77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19500"/>
            <a:ext cx="19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6166A9-65BE-4AED-85DA-D11F79BB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291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0DC54E-63E9-4EF5-AB28-A87BFAC3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19500"/>
            <a:ext cx="190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08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9CBE24-6DA7-4002-989D-5C664412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4673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r>
              <a:t>对评委：打开包就能复核。对团队：后续扩展 case 时不用重搭提交结构。</a:t>
            </a:r>
          </a:p>
        </p:txBody>
      </p:sp>
    </p:spTree>
    <p:extLst>
      <p:ext uri="{BB962C8B-B14F-4D97-AF65-F5344CB8AC3E}">
        <p14:creationId xmlns:p14="http://schemas.microsoft.com/office/powerpoint/2010/main" val="10096106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828BCE-624E-46DF-AAD9-3F92DD27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kicker-质量闭环-marker">
            <a:extLst xmlns:a="http://schemas.openxmlformats.org/drawingml/2006/main">
              <a:ext uri="{FF2B5EF4-FFF2-40B4-BE49-F238E27FC236}">
                <a16:creationId xmlns:a16="http://schemas.microsoft.com/office/drawing/2014/main" id="{DB30E797-B012-4C6D-AB61-761E973B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kicker-质量闭环-label">
            <a:extLst xmlns:a="http://schemas.openxmlformats.org/drawingml/2006/main">
              <a:ext uri="{FF2B5EF4-FFF2-40B4-BE49-F238E27FC236}">
                <a16:creationId xmlns:a16="http://schemas.microsoft.com/office/drawing/2014/main" id="{31E4038D-998B-4D45-A005-241EC3F8D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质量闭环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9729F-DD43-484F-9538-7308676F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76200" bIns="0" anchor="ctr"/>
          <a:lstStyle xmlns:a="http://schemas.openxmlformats.org/drawingml/2006/main"/>
          <a:p xmlns:a="http://schemas.openxmlformats.org/drawingml/2006/main">
            <a:r>
              <a:t>每个 case 通过结构校验后，还要被证据、许可和评测任务反向约束。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FBD85-77E2-4BD8-9F03-AC7A0B15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Sci-Evo · LabTrace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024BD-0B4E-40B9-BDEE-7B830803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5929B8-8837-41AD-9504-529BE73D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669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1B6C8-643F-4CFB-B589-74451156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3/3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0F2E2-0C53-4579-B377-31859B0AC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Gold case 通过校验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8AE70F-DD4B-4CCD-85D0-F597EC1A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8669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FA8A3E-F32B-4157-8600-6F8CD356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002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37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1E440-55B9-4919-BDF3-64FC3274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765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自动评测任务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34116-D657-4C97-9F92-27AC68BD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8669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05521-7200-4E1F-82CD-BBB71504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002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CAB46-1C1A-49FD-8495-1488C4413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4765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开放来源已筛选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583606-4C47-422F-AE3B-923EEE0D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20002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1F5A28-A5F8-4681-8737-9095337A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00250"/>
            <a:ext cx="165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100%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2D8CF9-E07D-456C-ACD9-E1CFE30B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76500"/>
            <a:ext cx="165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t>提交门槛已满足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3F5D8D-549F-46C2-9E2E-324E35AD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95700"/>
            <a:ext cx="41719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2D4A21-84B6-42D0-B5C5-2142C942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905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许可状态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ABE6BC-5592-468F-B7C2-F8A5E422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434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CC-BY 2 / 样例待复核 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D816BF-ECC1-42D1-9684-47458454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38150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637EC2-51E1-425E-AEEA-D3A051B5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3338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质量报告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A9F171-0ADB-4A13-9CF4-560EB44A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01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已生成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989EF6-48BB-4956-B122-B6C32BF8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648200"/>
            <a:ext cx="2000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4675AA-151E-48B0-B06E-D4366EF8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005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就绪检查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3BF635-C352-4B2B-AD73-36C2AE9F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76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通过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1F58BB-6FD8-4919-A95D-69295C96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914900"/>
            <a:ext cx="1714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E32A5E-5074-4651-A84A-9C0C6076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67275"/>
            <a:ext cx="3429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自动审校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2B03C8-5337-4DED-A14A-177DA9E9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37909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FBBF74-5964-4949-A35C-DA06E624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9052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validate_dataset 通过；check_submission_readiness 通过。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6687D0-19BF-4FAF-867B-BE168500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24350"/>
            <a:ext cx="306705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buNone/>
              <a:defRPr sz="1425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98/100，DeepSeek ok；题型烟测 96/100，比例偏差 ±1。</a:t>
            </a:r>
          </a:p>
        </p:txBody>
      </p:sp>
    </p:spTree>
    <p:extLst>
      <p:ext uri="{BB962C8B-B14F-4D97-AF65-F5344CB8AC3E}">
        <p14:creationId xmlns:p14="http://schemas.microsoft.com/office/powerpoint/2010/main" val="19838302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787908-B43D-4844-8B4D-F857825F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0C5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kicker-Web Demo-marker">
            <a:extLst xmlns:a="http://schemas.openxmlformats.org/drawingml/2006/main">
              <a:ext uri="{FF2B5EF4-FFF2-40B4-BE49-F238E27FC236}">
                <a16:creationId xmlns:a16="http://schemas.microsoft.com/office/drawing/2014/main" id="{66C4983F-E187-4BE4-85C5-5DCA20A2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kicker-Web Demo-label">
            <a:extLst xmlns:a="http://schemas.openxmlformats.org/drawingml/2006/main">
              <a:ext uri="{FF2B5EF4-FFF2-40B4-BE49-F238E27FC236}">
                <a16:creationId xmlns:a16="http://schemas.microsoft.com/office/drawing/2014/main" id="{BCE5D691-94E0-4ADE-904A-A9E10DF0E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提交包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1C8FF-5C23-43F1-9CA6-E0CEF6FC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76200" bIns="0" anchor="ctr"/>
          <a:lstStyle xmlns:a="http://schemas.openxmlformats.org/drawingml/2006/main"/>
          <a:p xmlns:a="http://schemas.openxmlformats.org/drawingml/2006/main">
            <a:r>
              <a:t>评委打开交付包，先看到核心材料，再顺着文件路径进入证据与代码。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5440BB-2EDC-40D3-8B17-45A4F93E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Sci-Evo · LabTrace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395AB-A121-493D-9CFB-2F8ED204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D012F0-9C22-4FD9-9D2C-810F7387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74485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0742D2-7A4F-41D9-BFFC-68AE862C4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26860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85AA6A-6AE4-41B6-B862-41737F08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首屏讲清楚三件事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9A91F6-6B67-4911-9656-3929EE31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670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数据文件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7B51DF-D52D-4AC5-BD8B-44D754AD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337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gold / eval / manifest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A0F55-162A-4921-AAAA-08CE4D03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718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关键文档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5D0D05-1EC2-4D28-BEA2-FF1BCF591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385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README / 技术报告 / 清单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26F3EA-6265-4BAA-8BFD-211FF5DC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767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验证状态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7548BF-F1A5-405F-A781-6BA3A51E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3434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校验通过 / 工作区干净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845600-F508-431D-BC5C-E1B957A1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8155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许可说明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D0B28F-C594-4296-9622-73353E1C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0482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公开发布前复核全文级产物</a:t>
            </a:r>
          </a:p>
        </p:txBody>
      </p:sp>
      <p:pic xmlns:a="http://schemas.openxmlformats.org/drawingml/2006/main" xmlns:r="http://schemas.openxmlformats.org/officeDocument/2006/relationships">
        <p:nvPicPr>
          <p:cNvPr id="19" name="Picture 18" descr="submission_pack_overvie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050" y="1866900"/>
            <a:ext cx="721995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63526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D708F0-860D-49AB-8DDA-2ADD88FF3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5315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415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" name="kicker-冲刺路线-marker">
            <a:extLst xmlns:a="http://schemas.openxmlformats.org/drawingml/2006/main">
              <a:ext uri="{FF2B5EF4-FFF2-40B4-BE49-F238E27FC236}">
                <a16:creationId xmlns:a16="http://schemas.microsoft.com/office/drawing/2014/main" id="{C8F591DA-65AA-4676-81C8-95FEE9357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2F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kicker-冲刺路线-label">
            <a:extLst xmlns:a="http://schemas.openxmlformats.org/drawingml/2006/main">
              <a:ext uri="{FF2B5EF4-FFF2-40B4-BE49-F238E27FC236}">
                <a16:creationId xmlns:a16="http://schemas.microsoft.com/office/drawing/2014/main" id="{9CCDE151-32B9-4C3D-9F66-BE99B89D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43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冲刺路线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37F66C-9195-4C8D-B4BD-25B60A368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76200" bIns="0" anchor="ctr"/>
          <a:lstStyle xmlns:a="http://schemas.openxmlformats.org/drawingml/2006/main"/>
          <a:p xmlns:a="http://schemas.openxmlformats.org/drawingml/2006/main">
            <a:r>
              <a:t>当前版本已可提交，后续增强应集中在规模、MinerU 覆盖和许可清晰度。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9F5BCD-0A26-4517-80EC-3FB78BD7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48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Sci-Evo · LabTrace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521FEA-3924-4609-B218-E6B8FFB4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484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9989A-62D4-4D37-9AAF-7E8535CF7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21526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C6AA8-68F0-40F1-875D-655D8B9CD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P0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D0B127-7186-47D0-AD17-C042A461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提交版交付包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A6AB0-4D58-4715-988D-5DFF7C81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r>
              <a:t>当前已完成；PPT、数据、报告与校验链齐全。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4AF12-EB69-4BDE-9648-3ABD6735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52650"/>
            <a:ext cx="21526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31A2F-40E2-401E-9EEA-086DE785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812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P1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3FF98-88FB-4F79-849A-4738FDB10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384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扩展更多 OA case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E2BB40-096F-4D79-95F2-CBCA7A25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6710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r>
              <a:t>优先处理 14 条 permitted_for_local_processing 候选。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55BF1A-8E01-49C7-8CE4-F34AD7AF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52650"/>
            <a:ext cx="21526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FFAD44-D5C2-416F-AF76-D8B40D25C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812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P2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5AA972-36E4-4661-9517-542B94C4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384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补齐 MinerU 产物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725B81-188B-4209-8D24-49BBEBEB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6710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r>
              <a:t>为新增开放论文补本地解析和块级证据绑定。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4F4E0-6F17-4AD9-ADA4-717F9CA69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52650"/>
            <a:ext cx="2152650" cy="2266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293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96BECC-97DF-412F-8836-FD9F6565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381250"/>
            <a:ext cx="55245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P3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B69DD3-62C6-4C20-A9EB-4DD34ED7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384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公开版合规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0602FA-842F-4525-A811-B5F16A61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67100"/>
            <a:ext cx="1695450" cy="7810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57150" rIns="76200" bIns="57150" anchor="ctr"/>
          <a:lstStyle xmlns:a="http://schemas.openxmlformats.org/drawingml/2006/main"/>
          <a:p xmlns:a="http://schemas.openxmlformats.org/drawingml/2006/main">
            <a:r>
              <a:t>逐条确认全文、图片和解析产物的许可边界。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ACCCCD-081B-4A4D-93A0-B6D15934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10150"/>
            <a:ext cx="876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4F9523-2FC2-4748-ACFD-D157CCA1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143500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00" tIns="38100" rIns="76200" bIns="38100" anchor="ctr"/>
          <a:lstStyle xmlns:a="http://schemas.openxmlformats.org/drawingml/2006/main"/>
          <a:p xmlns:a="http://schemas.openxmlformats.org/drawingml/2006/main">
            <a:r>
              <a:t>答辩话术：MinerU 负责把论文变成可信结构化证据，Sci-Evo-LabTrace 负责把证据组织成可训练、可评测、可提交的科研演化数据。</a:t>
            </a:r>
          </a:p>
        </p:txBody>
      </p:sp>
    </p:spTree>
    <p:extLst>
      <p:ext uri="{BB962C8B-B14F-4D97-AF65-F5344CB8AC3E}">
        <p14:creationId xmlns:p14="http://schemas.microsoft.com/office/powerpoint/2010/main" val="13030911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2026-05-25T15:26:08.6030000Z</dcterms:created>
  <dcterms:modified xsi:type="dcterms:W3CDTF">2026-05-25T15:26:08.6030000Z</dcterms:modified>
</coreProperties>
</file>