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6948e5e16d4f85" Type="http://schemas.openxmlformats.org/officeDocument/2006/relationships/extended-properties" Target="docProps/app.xml"/><Relationship Id="R4b430b562e44430a" Type="http://schemas.openxmlformats.org/officeDocument/2006/relationships/officeDocument" Target="ppt/presentation.xml"/><Relationship Id="R8d65442336f145f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762ba857f4640"/>
  </p:sldMasterIdLst>
  <p:notesMasterIdLst>
    <p:notesMasterId xmlns:r="http://schemas.openxmlformats.org/officeDocument/2006/relationships" r:id="Ra585b775e1234fde"/>
  </p:notesMasterIdLst>
  <p:sldIdLst>
    <p:sldId xmlns:r="http://schemas.openxmlformats.org/officeDocument/2006/relationships" id="256" r:id="R411d2741758f45f7"/>
    <p:sldId xmlns:r="http://schemas.openxmlformats.org/officeDocument/2006/relationships" id="257" r:id="R85fd150c8ba34c1a"/>
    <p:sldId xmlns:r="http://schemas.openxmlformats.org/officeDocument/2006/relationships" id="258" r:id="R067fb8927ff44967"/>
    <p:sldId xmlns:r="http://schemas.openxmlformats.org/officeDocument/2006/relationships" id="259" r:id="Rd363c4d42ebc4464"/>
    <p:sldId xmlns:r="http://schemas.openxmlformats.org/officeDocument/2006/relationships" id="260" r:id="R72d20980023a4133"/>
    <p:sldId xmlns:r="http://schemas.openxmlformats.org/officeDocument/2006/relationships" id="261" r:id="Rae630287b6cb438a"/>
    <p:sldId xmlns:r="http://schemas.openxmlformats.org/officeDocument/2006/relationships" id="262" r:id="Rf4c9a7a227e8418d"/>
    <p:sldId xmlns:r="http://schemas.openxmlformats.org/officeDocument/2006/relationships" id="263" r:id="R9c5984aea8284d1d"/>
    <p:sldId xmlns:r="http://schemas.openxmlformats.org/officeDocument/2006/relationships" id="264" r:id="R52c9455d23244cea"/>
    <p:sldId xmlns:r="http://schemas.openxmlformats.org/officeDocument/2006/relationships" id="265" r:id="Rdaa6c1f8b89e4a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67fb8927ff44967" Type="http://schemas.openxmlformats.org/officeDocument/2006/relationships/slide" Target="slides/slide3.xml"/><Relationship Id="R0fcab045de044708" Type="http://schemas.openxmlformats.org/officeDocument/2006/relationships/tableStyles" Target="tableStyles.xml"/><Relationship Id="R318253e539a8435c" Type="http://schemas.openxmlformats.org/officeDocument/2006/relationships/theme" Target="theme/theme1.xml"/><Relationship Id="R354ed07e6abe4718" Type="http://schemas.openxmlformats.org/officeDocument/2006/relationships/presProps" Target="presProps.xml"/><Relationship Id="R411d2741758f45f7" Type="http://schemas.openxmlformats.org/officeDocument/2006/relationships/slide" Target="slides/slide1.xml"/><Relationship Id="R52c9455d23244cea" Type="http://schemas.openxmlformats.org/officeDocument/2006/relationships/slide" Target="slides/slide9.xml"/><Relationship Id="R703762ba857f4640" Type="http://schemas.openxmlformats.org/officeDocument/2006/relationships/slideMaster" Target="slideMasters/slideMaster1.xml"/><Relationship Id="R72d20980023a4133" Type="http://schemas.openxmlformats.org/officeDocument/2006/relationships/slide" Target="slides/slide5.xml"/><Relationship Id="R85fd150c8ba34c1a" Type="http://schemas.openxmlformats.org/officeDocument/2006/relationships/slide" Target="slides/slide2.xml"/><Relationship Id="R9c5984aea8284d1d" Type="http://schemas.openxmlformats.org/officeDocument/2006/relationships/slide" Target="slides/slide8.xml"/><Relationship Id="Ra585b775e1234fde" Type="http://schemas.openxmlformats.org/officeDocument/2006/relationships/notesMaster" Target="notesMasters/notesMaster1.xml"/><Relationship Id="Rae630287b6cb438a" Type="http://schemas.openxmlformats.org/officeDocument/2006/relationships/slide" Target="slides/slide6.xml"/><Relationship Id="Rc8e672ac78ae49a3" Type="http://schemas.openxmlformats.org/officeDocument/2006/relationships/viewProps" Target="viewProps.xml"/><Relationship Id="Rd363c4d42ebc4464" Type="http://schemas.openxmlformats.org/officeDocument/2006/relationships/slide" Target="slides/slide4.xml"/><Relationship Id="Rdaa6c1f8b89e4ab7" Type="http://schemas.openxmlformats.org/officeDocument/2006/relationships/slide" Target="slides/slide10.xml"/><Relationship Id="Rf4c9a7a227e8418d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0930cd399d9e49d4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303d2dee7364cc6" Type="http://schemas.openxmlformats.org/officeDocument/2006/relationships/slide" Target="../slides/slide1.xml"/><Relationship Id="R7596241106a14c7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d2d8780c15d4015" Type="http://schemas.openxmlformats.org/officeDocument/2006/relationships/notesMaster" Target="../notesMasters/notesMaster1.xml"/><Relationship Id="R917b18e9e083482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429bdb01b240ec" Type="http://schemas.openxmlformats.org/officeDocument/2006/relationships/notesMaster" Target="../notesMasters/notesMaster1.xml"/><Relationship Id="Radf419e2d15f49a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0b617f7e0534534" Type="http://schemas.openxmlformats.org/officeDocument/2006/relationships/notesMaster" Target="../notesMasters/notesMaster1.xml"/><Relationship Id="Rc426b1c188b7456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66c34fb883d411f" Type="http://schemas.openxmlformats.org/officeDocument/2006/relationships/notesMaster" Target="../notesMasters/notesMaster1.xml"/><Relationship Id="R272f7a30812a4ee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788aed93e34ce8" Type="http://schemas.openxmlformats.org/officeDocument/2006/relationships/slide" Target="../slides/slide6.xml"/><Relationship Id="Rb9c495587c6442c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6fdc7931b1f4096" Type="http://schemas.openxmlformats.org/officeDocument/2006/relationships/notesMaster" Target="../notesMasters/notesMaster1.xml"/><Relationship Id="R69a0851afb91424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ff7864cc3f54c79" Type="http://schemas.openxmlformats.org/officeDocument/2006/relationships/slide" Target="../slides/slide8.xml"/><Relationship Id="R98609172af574da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06559ba4a0b46be" Type="http://schemas.openxmlformats.org/officeDocument/2006/relationships/slide" Target="../slides/slide9.xml"/><Relationship Id="R14e1626dada7460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a7a28e905a04845" Type="http://schemas.openxmlformats.org/officeDocument/2006/relationships/notesMaster" Target="../notesMasters/notesMaster1.xml"/><Relationship Id="Re040056e19674ef7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2eb1010c6d1c4365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f8921c30dd1b46e4" Type="http://schemas.openxmlformats.org/officeDocument/2006/relationships/theme" Target="../theme/theme1.xml"/><Relationship Id="Rfb4a8991d4fc4e01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a8991d4fc4e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0e58d1263340431c" Type="http://schemas.openxmlformats.org/officeDocument/2006/relationships/slideLayout" Target="../slideLayouts/slideLayout2.xml"/><Relationship Id="R91365cc69d3d440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3e408f422c941b2" Type="http://schemas.openxmlformats.org/officeDocument/2006/relationships/notesSlide" Target="../notesSlides/notesSlide2.xml"/><Relationship Id="Rd28f893ea6594ddb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3cc68d1d51164cd1" Type="http://schemas.openxmlformats.org/officeDocument/2006/relationships/notesSlide" Target="../notesSlides/notesSlide3.xml"/><Relationship Id="Rf995287b58d24d7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9c71c0567a6c42eb" Type="http://schemas.openxmlformats.org/officeDocument/2006/relationships/notesSlide" Target="../notesSlides/notesSlide4.xml"/><Relationship Id="Ra810dc17c4aa4a9a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4e0b3dea012244ce" Type="http://schemas.openxmlformats.org/officeDocument/2006/relationships/notesSlide" Target="../notesSlides/notesSlide5.xml"/><Relationship Id="R6724dce0f02c4f5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6d4ec2d3ca70409f" Type="http://schemas.openxmlformats.org/officeDocument/2006/relationships/slideLayout" Target="../slideLayouts/slideLayout2.xml"/><Relationship Id="R82eeda93b0d148f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495051af4f742b0" Type="http://schemas.openxmlformats.org/officeDocument/2006/relationships/slideLayout" Target="../slideLayouts/slideLayout2.xml"/><Relationship Id="R778617675747436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c3d94665a47f49bc" Type="http://schemas.openxmlformats.org/officeDocument/2006/relationships/slideLayout" Target="../slideLayouts/slideLayout2.xml"/><Relationship Id="Rf18d8cdde3b5458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0897e72c11e4f97" Type="http://schemas.openxmlformats.org/officeDocument/2006/relationships/image" Target="../media/image.jpeg"/><Relationship Id="R7ee9bb474c384f7b" Type="http://schemas.openxmlformats.org/officeDocument/2006/relationships/slideLayout" Target="../slideLayouts/slideLayout2.xml"/><Relationship Id="Re4b9d630cb774801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abd66361d1d0422d" Type="http://schemas.openxmlformats.org/officeDocument/2006/relationships/slideLayout" Target="../slideLayouts/slideLayout2.xml"/><Relationship Id="Rae8960533bee411e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ADFDC-3472-428C-8751-33E54A17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3AEDC-57EA-4621-A3A5-B11A46B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MinerU · Sci-Evo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F89D7-1398-4AE8-A72E-71093D7B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Sci-Evo-LabTrace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B6583-FC69-4A54-8A30-E61F5B6F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从论文 PDF 到可训练科研轨迹的数据集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41567-AA3E-49E6-AC6E-C9F63AEC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一句话：用 MinerU 把论文拆成可追溯证据，再整理成科学智能体能学习和评测的科研过程。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049AE-EEDB-4ECB-A546-2D144F4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2FC6C-41EF-47FE-AC29-DA856775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4EA1A-61F2-4940-A72F-05CB9BA8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2AB43-E6E5-4CD0-ADBD-C9A654F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Gold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ADA94-84ED-48F6-93B1-8ABD9296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839A6-5058-4583-A9B3-B4ABB88C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11111-694D-4615-A877-BD1EDB8B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轨迹步骤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E94B0-9B41-4C97-8FC6-EF682E3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8BD26-2143-4369-A405-55BBE98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63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84EED-FBA1-4BCA-9F2E-C8BAA4C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评测任务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20A22-B46F-4242-866D-13C50ADB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3DE59-AF73-48C7-98A1-D52DC6F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2710A-0E00-4B20-B554-D6FA8D9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OA 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20832-867A-4CB8-8ED9-99B7C064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2857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0519C-1BF1-4828-A9AD-EFADDA46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573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一条主线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5B44F-78A8-43D2-86E4-3EEDC46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E5E7EB"/>
                </a:solidFill>
              </a:rPr>
              <a:t>论文不是终点；可复核的过程轨迹才是训练科学智能体的资产。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18EFA-67BE-478E-9E79-AB56BD7C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7D2FE"/>
                </a:solidFill>
              </a:rPr>
              <a:t>核心差异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0E1AA-FD96-4BBB-8DD2-EEEFCA3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证据先行 → 轨迹抽取 → 评测生成 → 质量闭环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C0B7F-6061-4810-8814-48E9FF7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F9D9F-C013-4486-B160-64C5DD29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4310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26996-27BF-4D9E-A0E8-1DC012C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场景痛点-marker">
            <a:extLst xmlns:a="http://schemas.openxmlformats.org/drawingml/2006/main">
              <a:ext uri="{FF2B5EF4-FFF2-40B4-BE49-F238E27FC236}">
                <a16:creationId xmlns:a16="http://schemas.microsoft.com/office/drawing/2014/main" id="{D683D2EE-8F1E-4353-9EF6-E7CD1423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场景痛点-label">
            <a:extLst xmlns:a="http://schemas.openxmlformats.org/drawingml/2006/main">
              <a:ext uri="{FF2B5EF4-FFF2-40B4-BE49-F238E27FC236}">
                <a16:creationId xmlns:a16="http://schemas.microsoft.com/office/drawing/2014/main" id="{D62C0190-F6FE-4ADC-97D0-D8119E3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84956-3811-46D2-A129-1D0FDCAF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评委可以按四个问题阅读这份材料。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CE492-C0F5-4E59-B22E-283EA5C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766CC-8D40-4FFE-8D0E-EE27D01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F7502-CFF9-47F8-A1EC-4157668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876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6E050-9DD0-46D5-828A-35AE5D9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C3436-C5C6-4D09-AE4E-CAACC99A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为什么需要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99BCE-1AE1-44C5-89A1-3CB67AB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论文结论很多，但可学习的科研过程数据仍然稀缺。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42D00-2172-4E14-85CD-BDF99BA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D95AA-462B-48F5-9047-8B7A811C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2876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7009-55D1-4B46-A07E-BA5A9B4E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4684-E90A-461B-A295-798AE93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证据怎么来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9AAD8-6963-4E08-976D-E564AEBF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MinerU 把 PDF 转成 Markdown、layout 和块级证据。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6CB5E-711F-4AAF-877D-EDE72DD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4FE4B-E000-448D-854D-F8D4463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876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41D90-16F1-43FE-A637-BFCAE13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F087A-8087-4A56-8616-40C5870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如何被验证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1A502-F54C-4156-91FD-2425B1E5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Schema、gold case、评测任务和报告共同证明质量。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E4F04-A8B4-44FA-94CF-EEC21F4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2A028-0786-4525-A0C2-E27CBDE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阅读主线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55561-856C-4883-BE63-A189563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815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问题定义 → MinerU 证据 → 数据结构 → 质量验证 → 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108348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9EBFC-6E78-4DE9-AE6E-AC4C910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系统架构-marker">
            <a:extLst xmlns:a="http://schemas.openxmlformats.org/drawingml/2006/main">
              <a:ext uri="{FF2B5EF4-FFF2-40B4-BE49-F238E27FC236}">
                <a16:creationId xmlns:a16="http://schemas.microsoft.com/office/drawing/2014/main" id="{DE00B68B-265C-4B23-ABB4-658F59AA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系统架构-label">
            <a:extLst xmlns:a="http://schemas.openxmlformats.org/drawingml/2006/main">
              <a:ext uri="{FF2B5EF4-FFF2-40B4-BE49-F238E27FC236}">
                <a16:creationId xmlns:a16="http://schemas.microsoft.com/office/drawing/2014/main" id="{E96207C7-F558-4FA0-9A1C-EBD11B7A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主线架构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2833-154B-41A7-B82A-EA5AC546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先把论文变成可信证据，再把证据组织成科研轨迹。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1426C-A129-4AF7-954F-BAF5DD0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A54B-8A70-4BA0-B8CD-AECBD8EF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621F-BC50-434B-85D9-8B777EE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21DDC-02D3-406C-B836-775C7C8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503AE-8828-4DAD-87AC-D359F0E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PDF / DOI / 许可信息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9EE4D-0CCD-44EC-96DC-8987D98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ED5FF-2FC1-4B47-A9C9-027DE5A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AB7B0-8153-4D44-B78C-95170E36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99E7C-5756-417F-8C19-EEF175D6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MinerU / Markdown / layout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D261A-18A6-404A-AEAB-1DA24AB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F385B-F016-4585-8F27-2C031BF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14B3B-688B-4B07-927B-28374C7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建模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72E06-4436-40C6-8B64-DA0B96B1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case schema / evidence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F18B4-E0EA-4855-8B06-A90510A8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58BFA-66FA-427F-B89B-249E327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2312D-68CF-4ED6-9645-29B5472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抽取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52E5F-C4A9-423E-AB06-D38B8E2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trajectory /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ACA71-9750-4C51-BD9A-C840F52A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954F2-47B6-4042-A127-D48EFE4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B53C5-2A4C-4643-A39F-7910AEB5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产出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53978-D0A1-41AA-BA99-C6161C2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JSONL / tasks /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76480-A8AB-45A5-A19B-6CE2DCC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7DC3F-79AE-48BD-B4AD-FDF1B83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统一证据链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B8A83-2731-43FA-A74B-175F528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每个轨迹步骤保留来源页码、定位文本和 MinerU block 对应关系。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2444C-5606-4937-A3E2-50C8A968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086C02-7F6B-4D72-A7F3-A20DC92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统一工程闭环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0413D-0BE8-4EED-BEFD-6088F39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构建、校验、质量报告和一致性检查共同保证材料可复核、可扩展。</a:t>
            </a:r>
          </a:p>
        </p:txBody>
      </p:sp>
    </p:spTree>
    <p:extLst>
      <p:ext uri="{BB962C8B-B14F-4D97-AF65-F5344CB8AC3E}">
        <p14:creationId xmlns:p14="http://schemas.microsoft.com/office/powerpoint/2010/main" val="120127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C3FEF-BAE2-404B-8D92-FAED7A1F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MinerU 解析-marker">
            <a:extLst xmlns:a="http://schemas.openxmlformats.org/drawingml/2006/main">
              <a:ext uri="{FF2B5EF4-FFF2-40B4-BE49-F238E27FC236}">
                <a16:creationId xmlns:a16="http://schemas.microsoft.com/office/drawing/2014/main" id="{68C71E1D-F8B7-446B-B30C-EF0BAAB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MinerU 解析-label">
            <a:extLst xmlns:a="http://schemas.openxmlformats.org/drawingml/2006/main">
              <a:ext uri="{FF2B5EF4-FFF2-40B4-BE49-F238E27FC236}">
                <a16:creationId xmlns:a16="http://schemas.microsoft.com/office/drawing/2014/main" id="{300F6327-78D2-494C-B092-CE30852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证据来源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7565-9EBD-465F-A813-280A4391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MinerU 不是展示点，而是每条轨迹可追溯的第一公里。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E4EAF-E775-47EE-BB69-115CA8A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E200B-A49A-459C-804A-B9F7A185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6460B-DA9D-483A-8F8E-9E2AE44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C95EC-FA84-4879-BE86-26B5986D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B5095-5D67-48BF-8B5B-10B75F0B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本地解析样例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9AE77-2D8F-497B-A5FB-0BF97721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65B27-EF8F-4A0F-B8FF-2D9076D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717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E7E98-3B2A-4698-83AE-BD8601D2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479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核心产物类型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A62EB-1771-48BA-8110-2501F5B7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D836B-EB95-4FF1-8A0A-E8830624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B49A0-EBB9-456A-82D3-6B6FD47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479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样例可复查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ABBBD-2DFF-4995-8B2A-9CB8814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386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52C41-5FCA-45F0-8D62-BEC013D9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MinerU 本地产物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4009C-2C2F-4536-9044-8B0A962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DB6BA-29FD-4E63-831C-0A03A1F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5 个 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B3659-5BAA-4786-A5C3-98CB158B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146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产物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41EF7-B77F-4B09-8A33-85BD469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md / layout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39BCE-463E-484C-9AA4-AFA5135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746C5-2DC8-435A-9760-98003189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页码 / 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384D4-ED64-41DB-A814-66B8540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B9AE6-A086-4FAD-B759-059FAD2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全文本地留存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6FAEF-EF69-441F-92A9-3F969B9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扩展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7058D-EB23-4BCF-9AFE-AF414CC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开放论文补解析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CD646-4C13-4E2B-BCD6-A6147893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复核方式：关键字段回到 PDF 页面、Markdown 段落或 layout 块；全文级产物因许可仅本地留存。</a:t>
            </a:r>
          </a:p>
        </p:txBody>
      </p:sp>
    </p:spTree>
    <p:extLst>
      <p:ext uri="{BB962C8B-B14F-4D97-AF65-F5344CB8AC3E}">
        <p14:creationId xmlns:p14="http://schemas.microsoft.com/office/powerpoint/2010/main" val="2138937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C17A1-51A0-4B5C-82A0-B244A15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知识矩阵-marker">
            <a:extLst xmlns:a="http://schemas.openxmlformats.org/drawingml/2006/main">
              <a:ext uri="{FF2B5EF4-FFF2-40B4-BE49-F238E27FC236}">
                <a16:creationId xmlns:a16="http://schemas.microsoft.com/office/drawing/2014/main" id="{E46272CD-7567-4C10-A304-AEE718E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知识矩阵-label">
            <a:extLst xmlns:a="http://schemas.openxmlformats.org/drawingml/2006/main">
              <a:ext uri="{FF2B5EF4-FFF2-40B4-BE49-F238E27FC236}">
                <a16:creationId xmlns:a16="http://schemas.microsoft.com/office/drawing/2014/main" id="{3674A8C9-E91F-4A74-87CF-3359C47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数据内容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9A318-9723-4B3B-8012-34417665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当前 5 条 gold case 覆盖样例、开放论文和后续候选队列。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7282B-8F91-4772-BF36-DFAD6C04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D6199-18F3-41A6-B704-691D8787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C1334-01F5-40FF-B25F-F626A93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B1E7-13D2-4912-95F1-5872FA4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EBFA6-71D2-4D34-8C5D-E68F5A2D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36FD-85CC-4E32-895C-7FC17AFE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62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领域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6374C-C1D0-4846-83C0-7EE8E596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859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A771E-55AC-4FCB-98CC-F9E7C7C0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62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轨迹重心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F75BA-84E4-49CA-9B4E-FCCB20A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859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0E2CC-AEC8-4322-BD2B-4D46EBE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许可状态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DC73A-2C67-4D3B-B850-A9EABE88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3A6FA-FE1E-4A16-95AE-694BF4D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关键证据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915FC-15D0-4E13-B62C-782986A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3ABAA-21AE-40CB-A504-7D7D7A6D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0001 luciferase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1C141-9D3B-472A-97EC-C7B926FB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78C8F-8EF4-4143-AEB4-15EF6829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生物发光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A09A1-CA9B-43A8-BED9-50AA0CD8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15DB1-F167-4450-B39A-DC6D892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从头设计 + 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BA6F5-8F2E-4E90-BC80-AE5D117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209B3-E151-4467-AC7B-CEB693B4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812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种子样例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875BC-2DB9-4250-A0B9-816676D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27EBC-FC2C-47E5-AA44-A115445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目标、突变、细胞验证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A4165-6109-44DF-B271-9AEAC1F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7D784-0478-4607-8C43-C0663DD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0002+0003 ML/DE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EA057-72F7-466A-8D6B-2BE39C1A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AFB39-D46A-4055-A3D3-2308274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酶工程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E8F51-9949-4D61-9359-964A59F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32787-91D7-4C6F-BE45-F6407B8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67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文库设计 + 进化复盘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D6A4D-5CEA-45C3-AA2C-92AC7F1E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908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AA70C-4CE2-4F9D-ABA8-5B8E1A7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CC-BY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1D680-C7D2-4ECA-BA84-5D4AA2A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B8855-E309-4ABE-A6E9-849BF34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模型输入、结构证据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E1F974-9530-4245-8E29-E5DABD57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663CA7-F831-41AE-87AB-0E43A48F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0004 Pro-PRIME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DE8034-3E56-4548-B25B-3998525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766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8D799E-9C5F-4B87-B903-8A12CC3B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工业抗体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0E37F-BB8C-414C-8ED8-6D83D0A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6BC5DF-BA29-4927-9CF6-9C319F6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52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LLM + 生产验证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ADBA30-3FCC-4F27-9835-B75C844D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DFCADE-BC04-4AF7-9383-1E131B6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528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CC-BY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A44FBF-2FEB-404D-9093-F452ADD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4ABAB8-C96B-4670-AA5A-ED7D612E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65 突变、DBC、epistasis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EE0B81-E655-4D08-B7F4-94AA9580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4439BA-F11A-4CE1-BA29-F2BE7BF4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0005 signal leader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C0CF27-3C4B-4D76-9D12-FB48DF0A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624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B6FB26-1BDD-4080-BABD-3C4869D9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酵母分泌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2BB857-BD60-4249-9C17-1E205D12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624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7E447C-3F8E-4EFF-AAED-A1F381A8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bottom-up + top-down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30ECD0-FE5F-4CA3-ADD4-D277A24C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624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F9CAF-A8D5-443B-9141-E21313F6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386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CC-BY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FF2299-69EC-40DD-BB69-11A1C019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A10E8B-2930-48E7-985E-CB599DB3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1600 克隆、跨酶验证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E4EAC6-70C2-4777-9264-81AA829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这张表让评委可以在一页内看清当前数据覆盖、来源合规性和后续扩展空间。</a:t>
            </a:r>
          </a:p>
        </p:txBody>
      </p:sp>
    </p:spTree>
    <p:extLst>
      <p:ext uri="{BB962C8B-B14F-4D97-AF65-F5344CB8AC3E}">
        <p14:creationId xmlns:p14="http://schemas.microsoft.com/office/powerpoint/2010/main" val="445831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6AB35-14E4-4059-9B83-2507E39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个性化规划-marker">
            <a:extLst xmlns:a="http://schemas.openxmlformats.org/drawingml/2006/main">
              <a:ext uri="{FF2B5EF4-FFF2-40B4-BE49-F238E27FC236}">
                <a16:creationId xmlns:a16="http://schemas.microsoft.com/office/drawing/2014/main" id="{A285FE22-E0A6-41C8-9C51-5E29158E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个性化规划-label">
            <a:extLst xmlns:a="http://schemas.openxmlformats.org/drawingml/2006/main">
              <a:ext uri="{FF2B5EF4-FFF2-40B4-BE49-F238E27FC236}">
                <a16:creationId xmlns:a16="http://schemas.microsoft.com/office/drawing/2014/main" id="{80121F58-AEE6-4801-ACE6-058D0DDE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标注结构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C958-D65E-4032-B76F-EFE96BB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每条 case 都按“目标、过程、验证、质量”四层组织。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7E1DE-4678-4447-9C7D-2F8A7AD8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E4D39-02A3-4D53-9A75-F20C728C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8F4D1-8CDD-43FD-A14C-0599841C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857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9287C-E604-4425-B342-C2A8537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case 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DE5BD-89FA-480F-ADF8-134266E9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0101F-27A7-4DF4-8B01-3A7B110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从论文中抽取可量化科研目标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75FD4-A5C7-4784-B6AA-653EEC0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难点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2A03E-2507-4C9B-A9F9-1025FB03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099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计算设计、湿实验和失败修正需串联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CDB5B-B191-4F33-BCB0-D4CFFDA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853BA-92EF-4862-806F-D6CED78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只保留有证据和许可状态的步骤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63BD8-8772-45E3-A592-C277506C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6DDD3-6BC5-4B9A-94FC-57F9080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56007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EC94F-777A-436F-96B0-398F3059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24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351C7-2208-4C1C-AA6A-72E638F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进入结构化标注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2F8FC-C6AD-46F2-A61C-19050FD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05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initial_request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30504-5310-454F-959F-87FCA9FF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目标、约束、量化指标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ECDAC-024E-4726-B367-DB5F530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agent_trajectory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D5CDD-E9B9-47B3-8DB7-DA3AAC2A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action / tool / parameter / observation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1CCC6-A2D9-4A13-A3FE-86E73D2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success_verification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02580-84FD-4F33-BE06-D79966C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最终验证方法与指标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453C9-7342-4F7D-90FD-3860289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83DB7-EEC2-4F30-9993-B3349839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gold 等级、证据覆盖、许可复核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B0F41-3D03-4166-A3C5-749DBC32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同一篇论文的切分方式会直接影响样本质量；我们的原则是先定边界，再抽步骤，再做证据绑定。</a:t>
            </a:r>
          </a:p>
        </p:txBody>
      </p:sp>
    </p:spTree>
    <p:extLst>
      <p:ext uri="{BB962C8B-B14F-4D97-AF65-F5344CB8AC3E}">
        <p14:creationId xmlns:p14="http://schemas.microsoft.com/office/powerpoint/2010/main" val="1841225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0537C-D3EB-4EA3-BEF0-7AFAB42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资源交付-marker">
            <a:extLst xmlns:a="http://schemas.openxmlformats.org/drawingml/2006/main">
              <a:ext uri="{FF2B5EF4-FFF2-40B4-BE49-F238E27FC236}">
                <a16:creationId xmlns:a16="http://schemas.microsoft.com/office/drawing/2014/main" id="{5B11B88D-CAC1-4B8E-8900-4A25284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资源交付-label">
            <a:extLst xmlns:a="http://schemas.openxmlformats.org/drawingml/2006/main">
              <a:ext uri="{FF2B5EF4-FFF2-40B4-BE49-F238E27FC236}">
                <a16:creationId xmlns:a16="http://schemas.microsoft.com/office/drawing/2014/main" id="{CF929027-B7BE-4C09-8C74-ACFBA8C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工程体系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9C98-CD27-4060-B202-31E56906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评委从项目目录就能进入数据、报告、脚本和证据。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3863E-1DB5-402B-BBE8-2599C7B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FC012-54FC-49CF-B449-E6690D4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CAD0-4A12-47FF-BCC2-FA2ED64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89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FB63A-6EBB-4D5E-881D-91BB51F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项目目录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0346F-D649-4469-AA2D-C3B339E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E5E7EB"/>
                </a:solidFill>
              </a:rPr>
              <a:t>数据 / 文档 / 报告 / 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4A9C8-017E-4265-A2E3-2DA1E1C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6B205-17B8-443D-BEF2-E2B3B99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43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9D263-3D81-449B-85F5-8728C03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Gold JSONL / Eval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CF34B-7C1D-463D-8709-50BB06A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03796-C333-42B0-A4D3-E22A480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文档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8D19-7A8A-4D3D-A733-CF48298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README / 技术报告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0E04-4F71-46B3-9A82-8087CF2D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E7F7-5C81-414D-9200-A9CE04F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DA818-0BFE-4C8D-9186-5750B7E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质量报告 / MinerU 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7A203-CCB1-4FE2-8978-F2E468C1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A7B61-9646-4AC5-B930-7D15AE4B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33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2F03D-803D-4265-A6D8-3D45B3BC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build / 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9E64D-5977-4437-A154-C84F1849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23A22-F7BD-4B97-89C4-42FCA47B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747D0-F93E-4293-AC9E-153EBBC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DE4E5-A840-46DA-862C-53A0A52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DC6CA-FA53-4531-8583-5B7046D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291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067CD-C52E-43C6-BBEA-7662BD77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166A9-65BE-4AED-85DA-D11F79B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DC54E-63E9-4EF5-AB28-A87BFAC3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CBE24-6DA7-4002-989D-5C664412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67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t>核心材料彼此可互相印证：数据能被脚本校验，报告能回到来源与指标。</a:t>
            </a:r>
          </a:p>
        </p:txBody>
      </p:sp>
    </p:spTree>
    <p:extLst>
      <p:ext uri="{BB962C8B-B14F-4D97-AF65-F5344CB8AC3E}">
        <p14:creationId xmlns:p14="http://schemas.microsoft.com/office/powerpoint/2010/main" val="100961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28BCE-624E-46DF-AAD9-3F92DD2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质量闭环-marker">
            <a:extLst xmlns:a="http://schemas.openxmlformats.org/drawingml/2006/main">
              <a:ext uri="{FF2B5EF4-FFF2-40B4-BE49-F238E27FC236}">
                <a16:creationId xmlns:a16="http://schemas.microsoft.com/office/drawing/2014/main" id="{DB30E797-B012-4C6D-AB61-761E973B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质量闭环-label">
            <a:extLst xmlns:a="http://schemas.openxmlformats.org/drawingml/2006/main">
              <a:ext uri="{FF2B5EF4-FFF2-40B4-BE49-F238E27FC236}">
                <a16:creationId xmlns:a16="http://schemas.microsoft.com/office/drawing/2014/main" id="{31E4038D-998B-4D45-A005-241EC3F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质量验证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9729F-DD43-484F-9538-7308676F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质量不是口头承诺，而是由校验脚本、评测任务和报告共同约束。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FBD85-77E2-4BD8-9F03-AC7A0B15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024BD-0B4E-40B9-BDEE-7B830803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929B8-8837-41AD-9504-529BE73D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B6C8-643F-4CFB-B589-7445115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5/5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0F2E2-0C53-4579-B377-31859B0A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Gold case 通过校验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AE70F-DD4B-4CCD-85D0-F597EC1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A8A3E-F32B-4157-8600-6F8CD356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1E440-55B9-4919-BDF3-64FC3274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自动评测任务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34116-D657-4C97-9F92-27AC68BD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05521-7200-4E1F-82CD-BBB71504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CAB46-1C1A-49FD-8495-1488C441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开放来源已筛选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83606-4C47-422F-AE3B-923EEE0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F5A28-A5F8-4681-8737-9095337A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D8CF9-E07D-456C-ACD9-E1CFE30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/>
            <a:r>
              <a:t>核心材料完备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F5D8D-549F-46C2-9E2E-324E35AD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4171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D4A21-84B6-42D0-B5C5-2142C94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许可状态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BE6BC-5592-468F-B7C2-F8A5E42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CC-BY 4 / 样例待复核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816BF-ECC1-42D1-9684-47458454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37EC2-51E1-425E-AEEA-D3A051B5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338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质量报告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9F171-0ADB-4A13-9CF4-560EB44A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已生成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89EF6-48BB-4956-B122-B6C32BF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482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675AA-151E-48B0-B06E-D4366EF8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00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一致性检查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BF635-C352-4B2B-AD73-36C2AE9F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通过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F58BB-6FD8-4919-A95D-69295C96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32A5E-5074-4651-A84A-9C0C6076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67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自动审校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2B03C8-5337-4DED-A14A-177DA9E9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3790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BBF74-5964-4949-A35C-DA06E62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结构校验通过；一致性检查通过。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687D0-19BF-4FAF-867B-BE168500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</a:rPr>
              <a:t>校验覆盖：数据结构、评测任务、质量报告、许可状态与 Git 状态。</a:t>
            </a:r>
          </a:p>
        </p:txBody>
      </p:sp>
    </p:spTree>
    <p:extLst>
      <p:ext uri="{BB962C8B-B14F-4D97-AF65-F5344CB8AC3E}">
        <p14:creationId xmlns:p14="http://schemas.microsoft.com/office/powerpoint/2010/main" val="198383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87908-B43D-4844-8B4D-F857825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Web Demo-marker">
            <a:extLst xmlns:a="http://schemas.openxmlformats.org/drawingml/2006/main">
              <a:ext uri="{FF2B5EF4-FFF2-40B4-BE49-F238E27FC236}">
                <a16:creationId xmlns:a16="http://schemas.microsoft.com/office/drawing/2014/main" id="{66C4983F-E187-4BE4-85C5-5DCA20A2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Web Demo-label">
            <a:extLst xmlns:a="http://schemas.openxmlformats.org/drawingml/2006/main">
              <a:ext uri="{FF2B5EF4-FFF2-40B4-BE49-F238E27FC236}">
                <a16:creationId xmlns:a16="http://schemas.microsoft.com/office/drawing/2014/main" id="{BCE5D691-94E0-4ADE-904A-A9E10DF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快速复核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C8FF-5C23-43F1-9CA6-E0CEF6F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t>先看核心事实，再沿着文件路径进入证据、报告和代码。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40BB-2EDC-40D3-8B17-45A4F93E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395AB-A121-493D-9CFB-2F8ED204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012F0-9C22-4FD9-9D2C-810F7387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4485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742D2-7A4F-41D9-BFFC-68AE862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686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5AA6A-6AE4-41B6-B862-41737F0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首屏讲清楚三件事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A91F6-6B67-4911-9656-3929EE3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B51DF-D52D-4AC5-BD8B-44D754AD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gold / eval /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A0F55-162A-4921-AAAA-08CE4D0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文档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D0D05-1EC2-4D28-BEA2-FF1BCF5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README / 技术报告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6F3EA-6265-4BAA-8BFD-211FF5DC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76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548BF-F1A5-405F-A781-6BA3A51E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校验通过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45600-F508-431D-BC5C-E1B957A1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815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0B28F-C594-4296-9622-73353E1C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许可复核说明</a:t>
            </a:r>
          </a:p>
        </p:txBody>
      </p:sp>
      <p:pic xmlns:a="http://schemas.openxmlformats.org/drawingml/2006/main" xmlns:r="http://schemas.openxmlformats.org/officeDocument/2006/relationships"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866900"/>
            <a:ext cx="72199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35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708F0-860D-49AB-8DDA-2ADD88F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冲刺路线-marker">
            <a:extLst xmlns:a="http://schemas.openxmlformats.org/drawingml/2006/main">
              <a:ext uri="{FF2B5EF4-FFF2-40B4-BE49-F238E27FC236}">
                <a16:creationId xmlns:a16="http://schemas.microsoft.com/office/drawing/2014/main" id="{C8F591DA-65AA-4676-81C8-95FEE93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冲刺路线-label">
            <a:extLst xmlns:a="http://schemas.openxmlformats.org/drawingml/2006/main">
              <a:ext uri="{FF2B5EF4-FFF2-40B4-BE49-F238E27FC236}">
                <a16:creationId xmlns:a16="http://schemas.microsoft.com/office/drawing/2014/main" id="{9CCDE151-32B9-4C3D-9F66-BE99B89D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后续增强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7F66C-9195-4C8D-B4BD-25B60A36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E5E7EB"/>
                </a:solidFill>
              </a:rPr>
              <a:t>基础版本已经完整；后续增强集中在强 case 密度、录屏和许可清晰度。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F5BCD-0A26-4517-80EC-3FB78BD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21FEA-3924-4609-B218-E6B8FFB4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9989A-62D4-4D37-9AAF-7E8535C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C6AA8-68F0-40F1-875D-655D8B9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7D2FE"/>
                </a:solidFill>
              </a:rP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0B127-7186-47D0-AD17-C042A461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完整基础版本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A6AB0-4D58-4715-988D-5DFF7C81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当前已完成；数据、报告、PPT 与校验链齐全。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4AF12-EB69-4BDE-9648-3ABD6735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31A2F-40E2-401E-9EEA-086DE785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7D2FE"/>
                </a:solidFill>
              </a:rP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3FF98-88FB-4F79-849A-4738FDB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扩展更多强闭环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2BB40-096F-4D79-95F2-CBCA7A2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优先补 3-5 条同主题高证据案例。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5BF1A-8E01-49C7-8CE4-F34AD7A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FAD44-D5C2-416F-AF76-D8B40D2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BBF24"/>
                </a:solidFill>
              </a:rPr>
              <a:t>P2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AA972-36E4-4661-9517-542B94C4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补齐 MinerU 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25B81-188B-4209-8D24-49BBEBEB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为新增开放论文补本地解析和块级证据绑定。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4F4E0-6F17-4AD9-ADA4-717F9CA6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6BECC-97DF-412F-8836-FD9F656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CA5A5"/>
                </a:solidFill>
              </a:rPr>
              <a:t>P3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69DD3-62C6-4C20-A9EB-4DD34ED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公开版合规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602FA-842F-4525-A811-B5F16A6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CBD5E1"/>
                </a:solidFill>
              </a:rPr>
              <a:t>逐条确认全文、图片和解析产物的许可边界。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CCCCD-081B-4A4D-93A0-B6D1593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F9523-2FC2-4748-ACFD-D157CCA1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/>
            <a:r>
              <a:rPr>
                <a:solidFill>
                  <a:srgbClr val="F8FAFC"/>
                </a:solidFill>
              </a:rPr>
              <a:t>总结：MinerU 负责把论文变成可信结构化证据，Sci-Evo-LabTrace 负责把证据组织成可训练、可评测、可复核的科研演化数据。</a:t>
            </a:r>
          </a:p>
        </p:txBody>
      </p:sp>
    </p:spTree>
    <p:extLst>
      <p:ext uri="{BB962C8B-B14F-4D97-AF65-F5344CB8AC3E}">
        <p14:creationId xmlns:p14="http://schemas.microsoft.com/office/powerpoint/2010/main" val="1303091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2026-05-25T15:26:08.6030000Z</dcterms:created>
  <dcterms:modified xsi:type="dcterms:W3CDTF">2026-05-25T15:26:08.6030000Z</dcterms:modified>
</coreProperties>
</file>